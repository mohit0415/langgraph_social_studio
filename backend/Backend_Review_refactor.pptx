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20"/>
    <p:sldId id="259" r:id="rId5"/>
    <p:sldId id="260" r:id="rId6"/>
    <p:sldId id="270" r:id="rId21"/>
    <p:sldId id="271" r:id="rId22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only. Five LLM agents across six graph nodes. A clean run costs eight model calls; the worst case is twenty. Verified by 268 automated tests at 99.4% statement and branch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manager condenses the source once. Three writers then work from that brief only. They run concurrently in a single LangGraph superstep, so wall-clock time is the slowest platform rather than the sum of three. The consistency pass is the one check a writer could not have performed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Navy boxes are single-shot steps. Ice boxes run once per branch or handler. Amber diamonds are decisions. The amber-outlined write/self_check pair is the bounded self-correction loop — MAX_ATTEMPTS =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agents. The writer is one function with three concurrent instances, not three separate agents. A sixth check exists but is not an agent: check_length() is deterministic Python, no model involved.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nodes, five agents. The accept node runs no model. The router runs no node because it decides whether the graph runs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is defined declaratively as TypedDicts with reducer annotations. Concurrency safety is a property of the schema, not of hand-written locking.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is bounded four ways, not one. In the live database you can read the attempt count directly: five checkpoints in a platform namespace means a clean first pass, seven means one revision, nine means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more are in use but did not fit: Strategy for model tiering, Observer for the cache callback, and graceful degradation via typed fallbacks on every structured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Worst case is bounded because MAX_ATTEMPTS is three. Tier routing is a pure Python heuristic — no model is consulted to decide which model to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ordering: the free deterministic gate runs before the paid one. Quality and cost pull in the same direction here rather than against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memory is transient. The two durable layers are split on purpose: generated content lives in the checkpoint, the human transcript lives in our own table, because the sidebar must list threads without deserialising binary blobs.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prefix is byte-stable by construction and protected by a startup guard. Before this change the log showed forty misses and zero hits — a structural miss, not bad luck.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is statement and branch. The three uncovered lines are defensive branches the type system already makes unreachable.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Social Media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Studio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pipeline that turns one piece of source material into three platform-native posts, critiques its own output, and reconciles the results — without a human in the loop.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846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5504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37560" y="4846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337560" y="5504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nodes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4846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126480" y="5504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 / run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15400" y="4846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99.4%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915400" y="5504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·  FastAPI  ·  Python 3.12  ·  SQLite  ·  Azure OpenAI + local Ollama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request moves through the backend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514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84832" y="2871216"/>
            <a:ext cx="310896" cy="201168"/>
          </a:xfrm>
          <a:prstGeom prst="rightArrow">
            <a:avLst/>
          </a:prstGeom>
          <a:solidFill>
            <a:srgbClr val="9FB8E8"/>
          </a:solidFill>
          <a:ln w="12700">
            <a:solidFill>
              <a:srgbClr val="9FB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87168" y="251460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87168" y="266090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87168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brief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2871216"/>
            <a:ext cx="310896" cy="201168"/>
          </a:xfrm>
          <a:prstGeom prst="rightArrow">
            <a:avLst/>
          </a:prstGeom>
          <a:solidFill>
            <a:srgbClr val="9FB8E8"/>
          </a:solidFill>
          <a:ln w="12700">
            <a:solidFill>
              <a:srgbClr val="9FB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8304" y="1481328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1591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≤ 3 000 chars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 →  self-check  →  accept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18304" y="256032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64608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≤ 280 chars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2980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 →  self-check  →  accept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18304" y="3639312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64608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 ≤ 2 200 chars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 →  self-check  →  accept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18304" y="4736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parallel — one superstep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24544" y="2871216"/>
            <a:ext cx="310896" cy="201168"/>
          </a:xfrm>
          <a:prstGeom prst="rightArrow">
            <a:avLst/>
          </a:prstGeom>
          <a:solidFill>
            <a:srgbClr val="9FB8E8"/>
          </a:solidFill>
          <a:ln w="12700">
            <a:solidFill>
              <a:srgbClr val="9FB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25146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26880" y="26609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the three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60704" y="5230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 never see the source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0704" y="5504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is the only shared context, so every post traces back to one set of facts.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15968" y="52303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315968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28032" y="5230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 never see each other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28032" y="5504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 cannot contradict one it has not read — that is what the final pass is for.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83296" y="52303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083296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95360" y="5230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in the loop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95360" y="5504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quality gate is inside the pipeline, which is why the critic and the limits are non-negotiable.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DIAGRAM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request flow, end to 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endpoint, one field. Whether thread_id is present decides if the full pipeline runs or a lighter follow-up path handles the message.</a:t>
            </a:r>
            <a:endParaRPr lang="en-US" sz="1250" dirty="0"/>
          </a:p>
        </p:txBody>
      </p:sp>
      <p:pic>
        <p:nvPicPr>
          <p:cNvPr id="5" name="Image 0" descr="/tmp/deliver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11064240" cy="18068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directly from CODE_FLOW.md, so this diagram cannot drift from the code that runs. Full function-and-line mapping is in the technical documentation, §2.3.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agents and what each one owns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093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1499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35024" y="1801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write_brief()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151790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Condenses raw source into one self-contained brief under 150 words. Every downstream agent works from this and nothing else.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22576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8096" y="2542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35024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Writer  ×3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35024" y="2734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write_post()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245059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and revises one post against that platform's character limit and house style. Three concurrent instances, one per platform.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55264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3474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35024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Self-Critic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35024" y="36667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self_critique()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338328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writer's own draft. Returns exactly "OK" or one imperative sentence naming the fix. Gates the revision loop.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8096" y="44074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35024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Checker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35024" y="45994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check_consistency()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431596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three finished posts for contradicting numbers, dates and claims. Structured output, strong tier only.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" y="5340096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35024" y="5230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Router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335024" y="5532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route_message()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0" y="524865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 follow-up: refine an existing post, or treat it as fresh source. Returns a typed intent, never free text.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live in one file — src/agent.py — and every model call they make goes through ask() or ask_structured().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and graph nodes are not one-to-one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is a step in the workflow. An agent is a prompt plus a model call. Most nodes wrap one agent — but two do not, and that distinction is where the design lives.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01952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93776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node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it runs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call?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— write_brief()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·  1 per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platform  (subgraph)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wrapper for the three below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Writer — write_post()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·  3–9 per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self_check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Self-Critic + deterministic length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·  only if length passes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accept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pure state transition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consistency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Checker — check_consistency()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·  1 per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  runs outside the graph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Router — route_message()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 ·  follow-ups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8096" y="5394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has no agent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8096" y="56692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publishes the approved draft into shared state. Keeping it a node makes the hand-off explicit and checkpointable.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52578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83096" y="5394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has no node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83096" y="56692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decides whether to invoke the graph at all, so it must sit above it — in the API layer, in main.py.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is a typed contract with merge rules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943600" cy="3785616"/>
          </a:xfrm>
          <a:prstGeom prst="roundRect">
            <a:avLst>
              <a:gd name="adj" fmla="val 24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591056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State(TypedDict):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topic: str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brief: str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drafts: Annotated[Dict, merge_drafts]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action_log:   Annotated[List[str],  operator.add]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trace_events: Annotated[List[Dict], operator.add]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4672" y="33467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src/schemas/state.py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schemas: State for the outer graph, PlatformState per branch, PlatformOutput to control what a branch is allowed to publish back.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66560" y="13716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3533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= a reducer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0" y="16459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argument tells LangGraph how to combine two writes to the same key. Without it, three branches writing concurrently is a hard error, not a merge.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66560" y="25237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25054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operator.add appends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0" y="2798064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action_log and trace_events concatenate, so the run trace assembles itself across all three parallel branches with no coordination code.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3675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3657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merge_drafts is custom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0" y="395020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value wins per platform. That is what lets the consistency pass overwrite one post while leaving the other two untouched.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4828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48097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output_schema seals the branch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510235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problem and attempts are branch-local. PlatformOutput stops them leaking into the parent state.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— a bounded self-correction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760720" cy="2286000"/>
          </a:xfrm>
          <a:prstGeom prst="roundRect">
            <a:avLst>
              <a:gd name="adj" fmla="val 4000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87168" y="2075688"/>
            <a:ext cx="310896" cy="201168"/>
          </a:xfrm>
          <a:prstGeom prst="rightArrow">
            <a:avLst/>
          </a:prstGeom>
          <a:solidFill>
            <a:srgbClr val="9FB8E8"/>
          </a:solidFill>
          <a:ln w="12700">
            <a:solidFill>
              <a:srgbClr val="9FB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82880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828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self_check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73168" y="2075688"/>
            <a:ext cx="310896" cy="201168"/>
          </a:xfrm>
          <a:prstGeom prst="rightArrow">
            <a:avLst/>
          </a:prstGeom>
          <a:solidFill>
            <a:srgbClr val="9FB8E8"/>
          </a:solidFill>
          <a:ln w="12700">
            <a:solidFill>
              <a:srgbClr val="9FB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828800"/>
            <a:ext cx="777240" cy="685800"/>
          </a:xfrm>
          <a:prstGeom prst="roundRect">
            <a:avLst>
              <a:gd name="adj" fmla="val 10667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8288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H="1">
            <a:off x="868680" y="278892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6868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found  ·  attempts &lt; 3  →  revise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15361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after_self_check()  ·  src/routes/routing.py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1371600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67728" y="16093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MAX_ATTEMPTS = 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67728" y="1975104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ceiling on write + critique pairs per platform. The loop cannot run away, and worst-case spend per run is known in advance: 20 model calls against a clean run's 8.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0704" y="39136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sees its own last note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4197096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stateless review re-raises the same complaint forever. Showing the previous note ends the loop honestly instead of by exhaustion.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3931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84264" y="39136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pass lowers the bar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84264" y="4197096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attempt 3 the critic is told to accept unless the draft is factually wrong or off-brief. Style opinions stop being blocking.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1389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0704" y="51206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verdict = approval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0704" y="540410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model echoing its checklist is not evidence of a bad draft — and must never become the writer's revision instruction.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51389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84264" y="51206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gate is free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84264" y="540410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character check runs before the critic, so an over-long draft never costs a model call.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patterns carry most of the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367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11226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– Worker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6060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manager produces a brief; three workers execute against it independently. Classic supervisor topology.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320954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manager_node → fan_out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15968" y="1417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16367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53712" y="211226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– Gather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53712" y="26060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 fans out to three branches; a reducer gathers them back into one dict. Map-reduce over platforms.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53712" y="320954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fan_out + merge_drafts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83296" y="1417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6367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211226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(Generator – Critic)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26060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producer evaluates its own output against explicit criteria before anything ships.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21040" y="320954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⇄ self_check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3968496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" y="444398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" y="4937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and conditional edges are declared, not implied by call order. Control flow is inspectable.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6384" y="554126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StateGraph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15968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53712" y="3968496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53712" y="444398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Memento / Checkpoint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53712" y="4937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state is snapshotted every superstep, so a thread can be reloaded or resumed after a restart.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53712" y="554126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SqliteSaver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21040" y="3968496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832104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21040" y="444398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+ Facade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21040" y="4937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sits behind ThreadStore; all model calls sit behind ask()/ask_structured(). Two choke points.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21040" y="554126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thread_store.py, agent.py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 · 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and latency are engineered, not incidental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4224528"/>
          </a:xfrm>
          <a:prstGeom prst="roundRect">
            <a:avLst>
              <a:gd name="adj" fmla="val 2165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276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9888" y="1609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routing — easy copy goes to a local Ollama model at zero marginal cost, hard reasoning goes to Azure.</a:t>
            </a:r>
            <a:endParaRPr lang="en-US" sz="1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itself is a keyword and length heuristic, so tier selection costs no tokens and no latency.</a:t>
            </a:r>
            <a:endParaRPr lang="en-US" sz="1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and strict tasks are pinned to the strong tier — capability beats cost where a cheap model fails outright.</a:t>
            </a:r>
            <a:endParaRPr lang="en-US" sz="1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length check runs before the critic, so an over-long draft never spends a model call.</a:t>
            </a:r>
            <a:endParaRPr lang="en-US" sz="1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patches state instead of re-running the graph: 1 call per post rather than a fresh 8-call run.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49240" cy="4224528"/>
          </a:xfrm>
          <a:prstGeom prst="roundRect">
            <a:avLst>
              <a:gd name="adj" fmla="val 2165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62763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04888" y="1609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platforms execute in a single LangGraph superstep, so wall-clock is the slowest platform, not the sum of three.</a:t>
            </a:r>
            <a:endParaRPr lang="en-US" sz="1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clients are built once per tier and temperature and cached for the process lifetime.</a:t>
            </a:r>
            <a:endParaRPr lang="en-US" sz="1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availability is probed once per process with a 2-second timeout, never per request.</a:t>
            </a:r>
            <a:endParaRPr lang="en-US" sz="1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prompt prefix lets Azure serve most of each prompt from its cache instead of re-reading it.</a:t>
            </a:r>
            <a:endParaRPr lang="en-US" sz="1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length check removes a network round trip from every over-long draft.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6053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calls, clean run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5943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06240" y="6053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calls, worst case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5943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95160" y="6053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per superstep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15400" y="5943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784080" y="6053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spent routing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 · 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is five gates, not one prompt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6093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14904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policy prefix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490472"/>
            <a:ext cx="7269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~1 550-token block of studio policy — platform limits, banned phrases, fact discipline — sits at the front of every single call. Rules cannot drift between agents.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2578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53312" y="24597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limits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2459736"/>
            <a:ext cx="7269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counts are checked in Python, not asked of a model. A 281-character X post is caught with certainty, every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10128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547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53312" y="3429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Self-critique loop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3429000"/>
            <a:ext cx="7269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writer reviews its own draft against message, facts, tone and hook before anything is accepted.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79392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45171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53312" y="43982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outputs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4398264"/>
            <a:ext cx="7269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and consistency results are Pydantic models with Literal platform types. An unsupported platform is unrepresentable, not merely discouraged.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48656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5486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53312" y="53675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reconciliation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5367528"/>
            <a:ext cx="7269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check a writer cannot perform alone — it never saw the other two posts.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2727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is independent — a failure in one does not disable the others.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 of memory, one SQLite file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0" cy="1170432"/>
          </a:xfrm>
          <a:prstGeom prst="roundRect">
            <a:avLst>
              <a:gd name="adj" fmla="val 7813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556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80560" y="15179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In-run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71600" y="181051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channel state. Reducers accumulate the log and trace across parallel branches while the run is live.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/ PlatformState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7315200" cy="1170432"/>
          </a:xfrm>
          <a:prstGeom prst="roundRect">
            <a:avLst>
              <a:gd name="adj" fmla="val 7813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3054096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7980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graph memory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80560" y="2816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thread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71600" y="31089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superstep is checkpointed to disk, so a thread survives a restart and can be reloaded or resumed.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71600" y="35844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checkpoints + writes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968496"/>
            <a:ext cx="7315200" cy="1170432"/>
          </a:xfrm>
          <a:prstGeom prst="roundRect">
            <a:avLst>
              <a:gd name="adj" fmla="val 7813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4352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40965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480560" y="4114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thread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71600" y="440740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timestamps and the full user/system transcript — the index the sidebar reads without touching a checkpoint.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71600" y="4882896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threads table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38160" y="1371600"/>
            <a:ext cx="3474720" cy="3767328"/>
          </a:xfrm>
          <a:prstGeom prst="roundRect">
            <a:avLst>
              <a:gd name="adj" fmla="val 263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75904" y="16093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by thread_id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75904" y="1975104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UUID joins all three tables. Two threads can never see each other's state, and deleting a thread clears both the index row and its checkpoints in the same request.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75904" y="352958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get history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75904" y="3895344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receives the last five edits, so "do the same for LinkedIn" resolves against what was actually done before.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486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database today:  4 threads  ·  95 checkpoints  ·  415 channel writes  ·  1.17 MB  ·  WAL mode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7790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store full state per step rather than diffs — storage traded deliberately for the ability to resume or time-travel to any step.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 runs at two levels, measured at a third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223760" cy="1225296"/>
          </a:xfrm>
          <a:prstGeom prst="roundRect">
            <a:avLst>
              <a:gd name="adj" fmla="val 7463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922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object cache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15270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A4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lru_cache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clients are constructed once per tier and temperature; the Ollama health probe runs once per process. Saves re-reading configuration and rebuilding an HTTP session on every node in the graph.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7223760" cy="1225296"/>
          </a:xfrm>
          <a:prstGeom prst="roundRect">
            <a:avLst>
              <a:gd name="adj" fmla="val 7463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145536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852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prompt cache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880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A4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SHARED_PREFIX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71600" y="3182112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only caches a prompt prefix of 1 024 tokens or more. Our per-agent prompts were 156–588 tokens, so nothing could ever cache. A shared ~1 550-token policy block now sits first on every call, byte-identical, and clears the floor.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7223760" cy="1225296"/>
          </a:xfrm>
          <a:prstGeom prst="roundRect">
            <a:avLst>
              <a:gd name="adj" fmla="val 7463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4988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206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42336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A4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CacheUsageHandler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371600" y="4535424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callback reads cached_tokens off every response and logs HIT or MISS with the cached share. Caching that cannot be observed cannot be claimed.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137160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84464" y="16093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caveat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84464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our prompt sizes the prefix adds roughly as many tokens as it saves, and cached tokens bill at half rate. The measured win is latency and rule consistency — not a lower bill.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84464" y="36118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cached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84464" y="4014216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Responses. An exact-match response cache would return byte-identical posts for the same source, removing the variation a content generator exists to provide.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5778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fails the import if SHARED_PREFIX is ever edited below the 1 024-token floor — caching cannot be switched off by accident during a prompt tweak.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is asserted by tests, not by description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3A4A8F"/>
          </a:solidFill>
          <a:ln w="12700">
            <a:solidFill>
              <a:srgbClr val="3A4A8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3317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2148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3A4A8F"/>
          </a:solidFill>
          <a:ln w="12700">
            <a:solidFill>
              <a:srgbClr val="3A4A8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23317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208 / 60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/ integration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148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3A4A8F"/>
          </a:solidFill>
          <a:ln w="12700">
            <a:solidFill>
              <a:srgbClr val="3A4A8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23317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99.4%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+ branch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2148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3A4A8F"/>
          </a:solidFill>
          <a:ln w="12700">
            <a:solidFill>
              <a:srgbClr val="3A4A8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23317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 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9828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runtime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proven by the integration suite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224528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posts are produced in parallel from a single brief.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rejected draft is revised and re-checked — and only that platform is rewritten.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stops at MAX_ATTEMPTS and ships the draft flagged accepted_as_is.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state is checkpointed, reloadable, and isolated per thread.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failure degrades to a typed fallback or a 500 — never a stack trace to the user.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0" y="384048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3A4A8F"/>
          </a:solidFill>
          <a:ln w="12700">
            <a:solidFill>
              <a:srgbClr val="3A4A8F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10144" y="4041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10144" y="43891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compiled graph emits its own Mermaid definition at startup via draw_mermaid(), and a hand-authored flow diagram mapping every stage to its function is checked in as CODE_FLOW.md. The architecture diagram cannot drift from the code that runs.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routes, one FastAPI app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389888"/>
            <a:ext cx="11064240" cy="768096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Pill"/>
          <p:cNvSpPr/>
          <p:nvPr/>
        </p:nvSpPr>
        <p:spPr>
          <a:xfrm>
            <a:off x="768096" y="1581912"/>
            <a:ext cx="100000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7" name="Method"/>
          <p:cNvSpPr/>
          <p:nvPr/>
        </p:nvSpPr>
        <p:spPr>
          <a:xfrm>
            <a:off x="768096" y="1581912"/>
            <a:ext cx="10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50" dirty="0"/>
          </a:p>
        </p:txBody>
      </p:sp>
      <p:sp>
        <p:nvSpPr>
          <p:cNvPr id="8" name="Path"/>
          <p:cNvSpPr/>
          <p:nvPr/>
        </p:nvSpPr>
        <p:spPr>
          <a:xfrm>
            <a:off x="1984096" y="1479888"/>
            <a:ext cx="26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/ask</a:t>
            </a:r>
            <a:endParaRPr lang="en-US" sz="1350" dirty="0"/>
          </a:p>
        </p:txBody>
      </p:sp>
      <p:sp>
        <p:nvSpPr>
          <p:cNvPr id="9" name="Handler"/>
          <p:cNvSpPr/>
          <p:nvPr/>
        </p:nvSpPr>
        <p:spPr>
          <a:xfrm>
            <a:off x="1984096" y="1789888"/>
            <a:ext cx="26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social_query()</a:t>
            </a:r>
            <a:endParaRPr lang="en-US" sz="1000" dirty="0"/>
          </a:p>
        </p:txBody>
      </p:sp>
      <p:sp>
        <p:nvSpPr>
          <p:cNvPr id="10" name="Desc"/>
          <p:cNvSpPr/>
          <p:nvPr/>
        </p:nvSpPr>
        <p:spPr>
          <a:xfrm>
            <a:off x="4784096" y="1489888"/>
            <a:ext cx="6828784" cy="5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conversational endpoint. No thread_id starts a fresh run; an existing one is routed to clarify or refine instead.</a:t>
            </a:r>
            <a:endParaRPr lang="en-US" sz="1150" dirty="0"/>
          </a:p>
        </p:txBody>
      </p:sp>
      <p:sp>
        <p:nvSpPr>
          <p:cNvPr id="11" name="Card"/>
          <p:cNvSpPr/>
          <p:nvPr/>
        </p:nvSpPr>
        <p:spPr>
          <a:xfrm>
            <a:off x="548640" y="2267712"/>
            <a:ext cx="11064240" cy="768096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Pill"/>
          <p:cNvSpPr/>
          <p:nvPr/>
        </p:nvSpPr>
        <p:spPr>
          <a:xfrm>
            <a:off x="768096" y="2459736"/>
            <a:ext cx="10000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Method"/>
          <p:cNvSpPr/>
          <p:nvPr/>
        </p:nvSpPr>
        <p:spPr>
          <a:xfrm>
            <a:off x="768096" y="2459736"/>
            <a:ext cx="10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14" name="Path"/>
          <p:cNvSpPr/>
          <p:nvPr/>
        </p:nvSpPr>
        <p:spPr>
          <a:xfrm>
            <a:off x="1984096" y="2357712"/>
            <a:ext cx="26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/threads</a:t>
            </a:r>
            <a:endParaRPr lang="en-US" sz="1350" dirty="0"/>
          </a:p>
        </p:txBody>
      </p:sp>
      <p:sp>
        <p:nvSpPr>
          <p:cNvPr id="15" name="Handler"/>
          <p:cNvSpPr/>
          <p:nvPr/>
        </p:nvSpPr>
        <p:spPr>
          <a:xfrm>
            <a:off x="1984096" y="2667712"/>
            <a:ext cx="26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list_threads()</a:t>
            </a:r>
            <a:endParaRPr lang="en-US" sz="1000" dirty="0"/>
          </a:p>
        </p:txBody>
      </p:sp>
      <p:sp>
        <p:nvSpPr>
          <p:cNvPr id="16" name="Desc"/>
          <p:cNvSpPr/>
          <p:nvPr/>
        </p:nvSpPr>
        <p:spPr>
          <a:xfrm>
            <a:off x="4784096" y="2367712"/>
            <a:ext cx="6828784" cy="5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every saved thread from the SQLite index, for a history or sidebar view.</a:t>
            </a:r>
            <a:endParaRPr lang="en-US" sz="1150" dirty="0"/>
          </a:p>
        </p:txBody>
      </p:sp>
      <p:sp>
        <p:nvSpPr>
          <p:cNvPr id="17" name="Card"/>
          <p:cNvSpPr/>
          <p:nvPr/>
        </p:nvSpPr>
        <p:spPr>
          <a:xfrm>
            <a:off x="548640" y="3145536"/>
            <a:ext cx="11064240" cy="768096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Pill"/>
          <p:cNvSpPr/>
          <p:nvPr/>
        </p:nvSpPr>
        <p:spPr>
          <a:xfrm>
            <a:off x="768096" y="3337560"/>
            <a:ext cx="10000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Method"/>
          <p:cNvSpPr/>
          <p:nvPr/>
        </p:nvSpPr>
        <p:spPr>
          <a:xfrm>
            <a:off x="768096" y="3337560"/>
            <a:ext cx="10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20" name="Path"/>
          <p:cNvSpPr/>
          <p:nvPr/>
        </p:nvSpPr>
        <p:spPr>
          <a:xfrm>
            <a:off x="1984096" y="3235536"/>
            <a:ext cx="26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/threads/{thread_id}</a:t>
            </a:r>
            <a:endParaRPr lang="en-US" sz="1350" dirty="0"/>
          </a:p>
        </p:txBody>
      </p:sp>
      <p:sp>
        <p:nvSpPr>
          <p:cNvPr id="21" name="Handler"/>
          <p:cNvSpPr/>
          <p:nvPr/>
        </p:nvSpPr>
        <p:spPr>
          <a:xfrm>
            <a:off x="1984096" y="3545536"/>
            <a:ext cx="26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get_thread()</a:t>
            </a:r>
            <a:endParaRPr lang="en-US" sz="1000" dirty="0"/>
          </a:p>
        </p:txBody>
      </p:sp>
      <p:sp>
        <p:nvSpPr>
          <p:cNvPr id="22" name="Desc"/>
          <p:cNvSpPr/>
          <p:nvPr/>
        </p:nvSpPr>
        <p:spPr>
          <a:xfrm>
            <a:off x="4784096" y="3245536"/>
            <a:ext cx="6828784" cy="5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Reloads one thread's checkpointed state — brief, posts, action log, trace events.</a:t>
            </a:r>
            <a:endParaRPr lang="en-US" sz="1150" dirty="0"/>
          </a:p>
        </p:txBody>
      </p:sp>
      <p:sp>
        <p:nvSpPr>
          <p:cNvPr id="23" name="Card"/>
          <p:cNvSpPr/>
          <p:nvPr/>
        </p:nvSpPr>
        <p:spPr>
          <a:xfrm>
            <a:off x="548640" y="4023360"/>
            <a:ext cx="11064240" cy="768096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Pill"/>
          <p:cNvSpPr/>
          <p:nvPr/>
        </p:nvSpPr>
        <p:spPr>
          <a:xfrm>
            <a:off x="768096" y="4215384"/>
            <a:ext cx="1000000" cy="384048"/>
          </a:xfrm>
          <a:prstGeom prst="roundRect">
            <a:avLst>
              <a:gd name="adj" fmla="val 50000"/>
            </a:avLst>
          </a:prstGeom>
          <a:solidFill>
            <a:srgbClr val="A63446"/>
          </a:solidFill>
          <a:ln/>
        </p:spPr>
      </p:sp>
      <p:sp>
        <p:nvSpPr>
          <p:cNvPr id="25" name="Method"/>
          <p:cNvSpPr/>
          <p:nvPr/>
        </p:nvSpPr>
        <p:spPr>
          <a:xfrm>
            <a:off x="768096" y="4215384"/>
            <a:ext cx="10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50" dirty="0"/>
          </a:p>
        </p:txBody>
      </p:sp>
      <p:sp>
        <p:nvSpPr>
          <p:cNvPr id="26" name="Path"/>
          <p:cNvSpPr/>
          <p:nvPr/>
        </p:nvSpPr>
        <p:spPr>
          <a:xfrm>
            <a:off x="1984096" y="4113360"/>
            <a:ext cx="26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/threads/{thread_id}</a:t>
            </a:r>
            <a:endParaRPr lang="en-US" sz="1350" dirty="0"/>
          </a:p>
        </p:txBody>
      </p:sp>
      <p:sp>
        <p:nvSpPr>
          <p:cNvPr id="27" name="Handler"/>
          <p:cNvSpPr/>
          <p:nvPr/>
        </p:nvSpPr>
        <p:spPr>
          <a:xfrm>
            <a:off x="1984096" y="4423360"/>
            <a:ext cx="26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delete_thread()</a:t>
            </a:r>
            <a:endParaRPr lang="en-US" sz="1000" dirty="0"/>
          </a:p>
        </p:txBody>
      </p:sp>
      <p:sp>
        <p:nvSpPr>
          <p:cNvPr id="28" name="Desc"/>
          <p:cNvSpPr/>
          <p:nvPr/>
        </p:nvSpPr>
        <p:spPr>
          <a:xfrm>
            <a:off x="4784096" y="4123360"/>
            <a:ext cx="6828784" cy="5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thread from the index and deletes its LangGraph checkpoints from disk.</a:t>
            </a:r>
            <a:endParaRPr lang="en-US" sz="1150" dirty="0"/>
          </a:p>
        </p:txBody>
      </p:sp>
      <p:sp>
        <p:nvSpPr>
          <p:cNvPr id="29" name="Card"/>
          <p:cNvSpPr/>
          <p:nvPr/>
        </p:nvSpPr>
        <p:spPr>
          <a:xfrm>
            <a:off x="548640" y="4901184"/>
            <a:ext cx="11064240" cy="768096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Pill"/>
          <p:cNvSpPr/>
          <p:nvPr/>
        </p:nvSpPr>
        <p:spPr>
          <a:xfrm>
            <a:off x="768096" y="5093208"/>
            <a:ext cx="10000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Method"/>
          <p:cNvSpPr/>
          <p:nvPr/>
        </p:nvSpPr>
        <p:spPr>
          <a:xfrm>
            <a:off x="768096" y="5093208"/>
            <a:ext cx="10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32" name="Path"/>
          <p:cNvSpPr/>
          <p:nvPr/>
        </p:nvSpPr>
        <p:spPr>
          <a:xfrm>
            <a:off x="1984096" y="4991184"/>
            <a:ext cx="26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/platforms</a:t>
            </a:r>
            <a:endParaRPr lang="en-US" sz="1350" dirty="0"/>
          </a:p>
        </p:txBody>
      </p:sp>
      <p:sp>
        <p:nvSpPr>
          <p:cNvPr id="33" name="Handler"/>
          <p:cNvSpPr/>
          <p:nvPr/>
        </p:nvSpPr>
        <p:spPr>
          <a:xfrm>
            <a:off x="1984096" y="5301184"/>
            <a:ext cx="26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platforms()</a:t>
            </a:r>
            <a:endParaRPr lang="en-US" sz="1000" dirty="0"/>
          </a:p>
        </p:txBody>
      </p:sp>
      <p:sp>
        <p:nvSpPr>
          <p:cNvPr id="34" name="Desc"/>
          <p:cNvSpPr/>
          <p:nvPr/>
        </p:nvSpPr>
        <p:spPr>
          <a:xfrm>
            <a:off x="4784096" y="5001184"/>
            <a:ext cx="6828784" cy="5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each platform's character limit from RULES, so the frontend can enforce it client-side.</a:t>
            </a:r>
            <a:endParaRPr lang="en-US" sz="1150" dirty="0"/>
          </a:p>
        </p:txBody>
      </p:sp>
      <p:sp>
        <p:nvSpPr>
          <p:cNvPr id="35" name="Card"/>
          <p:cNvSpPr/>
          <p:nvPr/>
        </p:nvSpPr>
        <p:spPr>
          <a:xfrm>
            <a:off x="548640" y="5779008"/>
            <a:ext cx="11064240" cy="768096"/>
          </a:xfrm>
          <a:prstGeom prst="roundRect">
            <a:avLst>
              <a:gd name="adj" fmla="val 11111"/>
            </a:avLst>
          </a:prstGeom>
          <a:solidFill>
            <a:srgbClr val="F4F7FD"/>
          </a:solidFill>
          <a:ln w="12700">
            <a:solidFill>
              <a:srgbClr val="E2E9F7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6" name="Pill"/>
          <p:cNvSpPr/>
          <p:nvPr/>
        </p:nvSpPr>
        <p:spPr>
          <a:xfrm>
            <a:off x="768096" y="5971032"/>
            <a:ext cx="10000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7" name="Method"/>
          <p:cNvSpPr/>
          <p:nvPr/>
        </p:nvSpPr>
        <p:spPr>
          <a:xfrm>
            <a:off x="768096" y="5971032"/>
            <a:ext cx="100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50" dirty="0"/>
          </a:p>
        </p:txBody>
      </p:sp>
      <p:sp>
        <p:nvSpPr>
          <p:cNvPr id="38" name="Path"/>
          <p:cNvSpPr/>
          <p:nvPr/>
        </p:nvSpPr>
        <p:spPr>
          <a:xfrm>
            <a:off x="1984096" y="5869008"/>
            <a:ext cx="26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350" dirty="0"/>
          </a:p>
        </p:txBody>
      </p:sp>
      <p:sp>
        <p:nvSpPr>
          <p:cNvPr id="39" name="Handler"/>
          <p:cNvSpPr/>
          <p:nvPr/>
        </p:nvSpPr>
        <p:spPr>
          <a:xfrm>
            <a:off x="1984096" y="6179008"/>
            <a:ext cx="26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health()</a:t>
            </a:r>
            <a:endParaRPr lang="en-US" sz="1000" dirty="0"/>
          </a:p>
        </p:txBody>
      </p:sp>
      <p:sp>
        <p:nvSpPr>
          <p:cNvPr id="40" name="Desc"/>
          <p:cNvSpPr/>
          <p:nvPr/>
        </p:nvSpPr>
        <p:spPr>
          <a:xfrm>
            <a:off x="4784096" y="5879008"/>
            <a:ext cx="6828784" cy="5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probe — reports service status and the active SQLite database path.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icker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REFERENCE</a:t>
            </a:r>
            <a:endParaRPr lang="en-US" sz="1100" dirty="0"/>
          </a:p>
        </p:txBody>
      </p:sp>
      <p:sp>
        <p:nvSpPr>
          <p:cNvPr id="12" name="Title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agent owns</a:t>
            </a:r>
            <a:endParaRPr lang="en-US" sz="32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48640" y="1389888"/>
          <a:ext cx="11064240" cy="3650000"/>
        </p:xfrm>
        <a:graphic>
          <a:graphicData uri="http://schemas.openxmlformats.org/drawingml/2006/table">
            <a:tbl>
              <a:tblPr/>
              <a:tblGrid>
                <a:gridCol w="1659636"/>
                <a:gridCol w="2212848"/>
                <a:gridCol w="3761842"/>
                <a:gridCol w="3429914"/>
              </a:tblGrid>
              <a:tr h="40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/>
                    </a:p>
                  </a:txBody>
                  <a:tcPr marL="82296" marR="82296" marT="82296" marB="82296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000" dirty="0"/>
                    </a:p>
                  </a:txBody>
                  <a:tcPr marL="82296" marR="82296" marT="82296" marB="82296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Responsibilities</a:t>
                      </a:r>
                      <a:endParaRPr lang="en-US" sz="1000" dirty="0"/>
                    </a:p>
                  </a:txBody>
                  <a:tcPr marL="82296" marR="82296" marT="82296" marB="82296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pipeline</a:t>
                      </a:r>
                      <a:endParaRPr lang="en-US" sz="1000" dirty="0"/>
                    </a:p>
                  </a:txBody>
                  <a:tcPr marL="82296" marR="82296" marT="82296" marB="82296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write_brief()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source material into one shared brief.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Condenses arbitrary input to ~150 words. Nothing downstream sees the raw source — only this brief.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first, once per run. Its brief is the only context the three writers get.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Writer  ×3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write_post()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one publish-ready post per platform.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draft from the brief, or a revision against a fix instruction. Never sees the other platforms' drafts.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1–3× per platform in the write → self-check loop, plus again on a consistency fix.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Self-Critic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self_critique()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 draft, or hand back one fix.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exactly “OK” or one imperative sentence. Only runs after the free, deterministic length check passes.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verdict drives the revise-vs-accept branch.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Checker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check_consistency()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contradictions across platforms.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all three finished drafts against each other and the brief; flags conflicts.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once, after all three branches rejoin. Triggers a targeted rewrite on conflict.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Router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route_message()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Classify a follow-up message.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output: fresh source, a targeted refine (platform + fix), or too vague to act on.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only agent with no graph node — lives in main.py, above the graph.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Kicker"/>
          <p:cNvSpPr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REFERENCE</a:t>
            </a:r>
            <a:endParaRPr lang="en-US" sz="1100" dirty="0"/>
          </a:p>
        </p:txBody>
      </p:sp>
      <p:sp>
        <p:nvSpPr>
          <p:cNvPr id="15" name="Title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graph node owns</a:t>
            </a:r>
            <a:endParaRPr lang="en-US" sz="32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/>
        </p:nvGraphicFramePr>
        <p:xfrm>
          <a:off x="548640" y="1389888"/>
          <a:ext cx="11064240" cy="4300000"/>
        </p:xfrm>
        <a:graphic>
          <a:graphicData uri="http://schemas.openxmlformats.org/drawingml/2006/table">
            <a:tbl>
              <a:tblPr/>
              <a:tblGrid>
                <a:gridCol w="1659636"/>
                <a:gridCol w="2212848"/>
                <a:gridCol w="3761842"/>
                <a:gridCol w="3429914"/>
              </a:tblGrid>
              <a:tr h="40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 (agent it runs)</a:t>
                      </a:r>
                      <a:endParaRPr lang="en-US" sz="1000" dirty="0"/>
                    </a:p>
                  </a:txBody>
                  <a:tcPr marL="82296" marR="82296" marT="82296" marB="82296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000" dirty="0"/>
                    </a:p>
                  </a:txBody>
                  <a:tcPr marL="82296" marR="82296" marT="82296" marB="82296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Responsibilities</a:t>
                      </a:r>
                      <a:endParaRPr lang="en-US" sz="1000" dirty="0"/>
                    </a:p>
                  </a:txBody>
                  <a:tcPr marL="82296" marR="82296" marT="82296" marB="82296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graph</a:t>
                      </a:r>
                      <a:endParaRPr lang="en-US" sz="1000" dirty="0"/>
                    </a:p>
                  </a:txBody>
                  <a:tcPr marL="82296" marR="82296" marT="82296" marB="82296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Manager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the brief written.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Wraps write_brief(); resets drafts = {}.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node after START. Its edge, fan_out(), launches the three platform branches.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 (subgraph)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 wrapper only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write / self-check / accept 3× in parallel.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agent, no model call — a container LangGraph sends into.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Sits between manager and consistency; one instance per platform.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Platform Writer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a first draft or a revision.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Wraps write_post(); reads state[“problem”] to pick fresh vs. revise.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 of the subgraph; loops via self_check → revise, up to 3×.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self_check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Self-Critic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ship or revise.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length check first; escalates to the critic only if that passes.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 after_self_check() — the real branch decision.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 — pure state transition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a platform's draft.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agent, no model call. Tags the draft accepted or accepted_as_is.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of each branch; three outputs merge before consistency.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Consistency Checker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Reconcile the three posts.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Wraps check_consistency(); rewrites any platform flagged with a contradiction.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node in the graph; its output is what the API returns.</a:t>
                      </a:r>
                      <a:endParaRPr lang="en-US" sz="1000" dirty="0"/>
                    </a:p>
                  </a:txBody>
                  <a:tcPr marL="82296" marR="82296" marT="54864" marB="54864" anchor="t">
                    <a:lnL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9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Social Media Content Studio — Backend Architecture</dc:title>
  <dc:subject>PptxGenJS Presentation</dc:subject>
  <dc:creator>Backend Engineering</dc:creator>
  <cp:lastModifiedBy>Backend Engineering</cp:lastModifiedBy>
  <cp:revision>1</cp:revision>
  <dcterms:created xsi:type="dcterms:W3CDTF">2026-08-20T14:14:07Z</dcterms:created>
  <dcterms:modified xsi:type="dcterms:W3CDTF">2026-08-20T14:14:07Z</dcterms:modified>
</cp:coreProperties>
</file>